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 living city" id="{c1e1d34e-25af-1275-06ac-26a8acb75365}">
          <p14:sldIdLst>
            <p14:sldId id="256"/>
            <p14:sldId id="257"/>
            <p14:sldId id="258"/>
          </p14:sldIdLst>
        </p14:section>
        <p14:section name="The rule it never breaks" id="{e7bf32a2-6d9e-83f5-3de6-ce7f7092231b}">
          <p14:sldIdLst>
            <p14:sldId id="259"/>
          </p14:sldIdLst>
        </p14:section>
        <p14:section name="What it does" id="{0c73ece2-1267-18cc-3e2f-29f4295fb7f9}">
          <p14:sldIdLst>
            <p14:sldId id="260"/>
            <p14:sldId id="261"/>
            <p14:sldId id="262"/>
            <p14:sldId id="263"/>
            <p14:sldId id="264"/>
          </p14:sldIdLst>
        </p14:section>
        <p14:section name="For everyone" id="{b5452db4-21d0-eb73-771c-23403f64dd80}">
          <p14:sldIdLst>
            <p14:sldId id="265"/>
            <p14:sldId id="266"/>
          </p14:sldIdLst>
        </p14:section>
        <p14:section name="Under the hood" id="{a7e4b52d-c281-1b46-8510-28ce0f31516d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live map. The deck follows the product: what it does today, on real data, and how sure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everyday questions no map answers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the live map after searching for a place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classes carried by every card, bubble and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the place intelligence card with a site-finder outline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 bar: three buttons and a slider from yesterday to six hours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Ask Atlas answering a site question while the Scenario Lab is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route options between two places found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and Pro open with a password today; accounts and billing follow tested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the project workspace with a watched area, a scenario and a shortlist.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 holds the model; the browser draws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107 web tests and 34 server tests at the time of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1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pic>
        <p:nvPicPr>
          <p:cNvPr id="4" name="Image 0" descr="/tmp/claude-0/-home-user-infrashield-bengaluru/a8cb06fe-0dee-5151-816d-47fd2cee5e5d/scratchpad/logo/city-atlas-horizontal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2" y="6199632"/>
            <a:ext cx="1371600" cy="381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pic>
        <p:nvPicPr>
          <p:cNvPr id="4" name="Image 0" descr="/tmp/claude-0/-home-user-infrashield-bengaluru/a8cb06fe-0dee-5151-816d-47fd2cee5e5d/scratchpad/logo/city-atlas-horizontal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2" y="6199632"/>
            <a:ext cx="1371600" cy="381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0719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tmp/claude-0/-home-user-infrashield-bengaluru/a8cb06fe-0dee-5151-816d-47fd2cee5e5d/scratchpad/logo/city-atlas-horizontal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3291840" cy="9144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40080" y="210312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chemeClr val="bg1"/>
                </a:solidFill>
              </a:rPr>
              <a:t>KNOW</a:t>
            </a:r>
            <a:endParaRPr lang="en-US" sz="8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chemeClr val="bg1"/>
                </a:solidFill>
              </a:rPr>
              <a:t>YOUR CITY.</a:t>
            </a:r>
            <a:endParaRPr lang="en-US" sz="8000" dirty="0"/>
          </a:p>
        </p:txBody>
      </p:sp>
      <p:sp>
        <p:nvSpPr>
          <p:cNvPr id="4" name="subline"/>
          <p:cNvSpPr txBox="1"/>
          <p:nvPr/>
        </p:nvSpPr>
        <p:spPr>
          <a:xfrm>
            <a:off x="640080" y="46634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living map that says what is happening, and how sure it is.</a:t>
            </a:r>
            <a:endParaRPr lang="en-US" sz="2000" dirty="0"/>
          </a:p>
        </p:txBody>
      </p:sp>
      <p:sp>
        <p:nvSpPr>
          <p:cNvPr id="5" name="tagline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chemeClr val="accent2"/>
                </a:solidFill>
              </a:rPr>
              <a:t>People · Places · Possibilities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Maps show you where. They do not tell you what is going on.</a:t>
            </a:r>
            <a:endParaRPr lang="en-US" sz="3000" dirty="0"/>
          </a:p>
        </p:txBody>
      </p:sp>
      <p:sp>
        <p:nvSpPr>
          <p:cNvPr id="3" name="card 0"/>
          <p:cNvSpPr/>
          <p:nvPr/>
        </p:nvSpPr>
        <p:spPr>
          <a:xfrm>
            <a:off x="640080" y="2011680"/>
            <a:ext cx="3429000" cy="3291840"/>
          </a:xfrm>
          <a:prstGeom prst="roundRect">
            <a:avLst>
              <a:gd name="adj" fmla="val 5556"/>
            </a:avLst>
          </a:prstGeom>
          <a:solidFill>
            <a:srgbClr val="0B1F2C"/>
          </a:solidFill>
          <a:ln w="12700">
            <a:solidFill>
              <a:srgbClr val="0B1F2C"/>
            </a:solidFill>
            <a:prstDash val="solid"/>
          </a:ln>
        </p:spPr>
      </p:sp>
      <p:sp>
        <p:nvSpPr>
          <p:cNvPr id="4" name="dot 0"/>
          <p:cNvSpPr/>
          <p:nvPr/>
        </p:nvSpPr>
        <p:spPr>
          <a:xfrm>
            <a:off x="960120" y="2331720"/>
            <a:ext cx="548640" cy="548640"/>
          </a:xfrm>
          <a:prstGeom prst="ellipse">
            <a:avLst/>
          </a:prstGeom>
          <a:solidFill>
            <a:srgbClr val="0F6FFF"/>
          </a:solidFill>
          <a:ln w="12700">
            <a:solidFill>
              <a:srgbClr val="0F6FFF"/>
            </a:solidFill>
            <a:prstDash val="solid"/>
          </a:ln>
        </p:spPr>
      </p:sp>
      <p:sp>
        <p:nvSpPr>
          <p:cNvPr id="5" name="n 0"/>
          <p:cNvSpPr txBox="1"/>
          <p:nvPr/>
        </p:nvSpPr>
        <p:spPr>
          <a:xfrm>
            <a:off x="9601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q 0"/>
          <p:cNvSpPr txBox="1"/>
          <p:nvPr/>
        </p:nvSpPr>
        <p:spPr>
          <a:xfrm>
            <a:off x="96012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Why is this road jammed?</a:t>
            </a:r>
            <a:endParaRPr lang="en-US" sz="2200" dirty="0"/>
          </a:p>
        </p:txBody>
      </p:sp>
      <p:sp>
        <p:nvSpPr>
          <p:cNvPr id="7" name="a 0"/>
          <p:cNvSpPr txBox="1"/>
          <p:nvPr/>
        </p:nvSpPr>
        <p:spPr>
          <a:xfrm>
            <a:off x="96012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red line says slow. It does not say why, or whether this is normal for 6 pm on a Tuesday.</a:t>
            </a:r>
            <a:endParaRPr lang="en-US" sz="1400" dirty="0"/>
          </a:p>
        </p:txBody>
      </p:sp>
      <p:sp>
        <p:nvSpPr>
          <p:cNvPr id="8" name="card 1"/>
          <p:cNvSpPr/>
          <p:nvPr/>
        </p:nvSpPr>
        <p:spPr>
          <a:xfrm>
            <a:off x="4343400" y="2011680"/>
            <a:ext cx="3429000" cy="3291840"/>
          </a:xfrm>
          <a:prstGeom prst="roundRect">
            <a:avLst>
              <a:gd name="adj" fmla="val 5556"/>
            </a:avLst>
          </a:prstGeom>
          <a:solidFill>
            <a:srgbClr val="0B1F2C"/>
          </a:solidFill>
          <a:ln w="12700">
            <a:solidFill>
              <a:srgbClr val="0B1F2C"/>
            </a:solidFill>
            <a:prstDash val="solid"/>
          </a:ln>
        </p:spPr>
      </p:sp>
      <p:sp>
        <p:nvSpPr>
          <p:cNvPr id="9" name="dot 1"/>
          <p:cNvSpPr/>
          <p:nvPr/>
        </p:nvSpPr>
        <p:spPr>
          <a:xfrm>
            <a:off x="4663440" y="2331720"/>
            <a:ext cx="548640" cy="5486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n 1"/>
          <p:cNvSpPr txBox="1"/>
          <p:nvPr/>
        </p:nvSpPr>
        <p:spPr>
          <a:xfrm>
            <a:off x="46634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q 1"/>
          <p:cNvSpPr txBox="1"/>
          <p:nvPr/>
        </p:nvSpPr>
        <p:spPr>
          <a:xfrm>
            <a:off x="46634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Which way home is calmer?</a:t>
            </a:r>
            <a:endParaRPr lang="en-US" sz="2200" dirty="0"/>
          </a:p>
        </p:txBody>
      </p:sp>
      <p:sp>
        <p:nvSpPr>
          <p:cNvPr id="12" name="a 1"/>
          <p:cNvSpPr txBox="1"/>
          <p:nvPr/>
        </p:nvSpPr>
        <p:spPr>
          <a:xfrm>
            <a:off x="466344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Apps pick the fastest route, not the one with fewer problems on it.</a:t>
            </a:r>
            <a:endParaRPr lang="en-US" sz="1400" dirty="0"/>
          </a:p>
        </p:txBody>
      </p:sp>
      <p:sp>
        <p:nvSpPr>
          <p:cNvPr id="13" name="card 2"/>
          <p:cNvSpPr/>
          <p:nvPr/>
        </p:nvSpPr>
        <p:spPr>
          <a:xfrm>
            <a:off x="8046720" y="2011680"/>
            <a:ext cx="3429000" cy="3291840"/>
          </a:xfrm>
          <a:prstGeom prst="roundRect">
            <a:avLst>
              <a:gd name="adj" fmla="val 5556"/>
            </a:avLst>
          </a:prstGeom>
          <a:solidFill>
            <a:srgbClr val="0B1F2C"/>
          </a:solidFill>
          <a:ln w="12700">
            <a:solidFill>
              <a:srgbClr val="0B1F2C"/>
            </a:solidFill>
            <a:prstDash val="solid"/>
          </a:ln>
        </p:spPr>
      </p:sp>
      <p:sp>
        <p:nvSpPr>
          <p:cNvPr id="14" name="dot 2"/>
          <p:cNvSpPr/>
          <p:nvPr/>
        </p:nvSpPr>
        <p:spPr>
          <a:xfrm>
            <a:off x="8366760" y="2331720"/>
            <a:ext cx="548640" cy="548640"/>
          </a:xfrm>
          <a:prstGeom prst="ellipse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15" name="n 2"/>
          <p:cNvSpPr txBox="1"/>
          <p:nvPr/>
        </p:nvSpPr>
        <p:spPr>
          <a:xfrm>
            <a:off x="83667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q 2"/>
          <p:cNvSpPr txBox="1"/>
          <p:nvPr/>
        </p:nvSpPr>
        <p:spPr>
          <a:xfrm>
            <a:off x="836676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What happens in an hour?</a:t>
            </a:r>
            <a:endParaRPr lang="en-US" sz="2200" dirty="0"/>
          </a:p>
        </p:txBody>
      </p:sp>
      <p:sp>
        <p:nvSpPr>
          <p:cNvPr id="17" name="a 2"/>
          <p:cNvSpPr txBox="1"/>
          <p:nvPr/>
        </p:nvSpPr>
        <p:spPr>
          <a:xfrm>
            <a:off x="836676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map is a photo of now. Cities keep moving.</a:t>
            </a:r>
            <a:endParaRPr lang="en-US" sz="1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City Atlas turns the map into a living city you can question.</a:t>
            </a:r>
            <a:endParaRPr lang="en-US" sz="3000" dirty="0"/>
          </a:p>
        </p:txBody>
      </p:sp>
      <p:pic>
        <p:nvPicPr>
          <p:cNvPr id="3" name="the live map" descr="/tmp/claude-0/-home-user-infrashield-bengaluru/a8cb06fe-0dee-5151-816d-47fd2cee5e5d/scratchpad/search-f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737360"/>
            <a:ext cx="5577840" cy="348386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Real streets, buildings and green for all of India, streaming in as you move.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Live traffic in the colours everyone already knows, with cars that move at the measured speed.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Incidents, air, rain and the city’s own memory of what is usual at this hour.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Ask Atlas in English or Hindi. Every answer lists the facts it came from.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It always tells you how sure it is.</a:t>
            </a:r>
            <a:endParaRPr lang="en-US" sz="3000" dirty="0"/>
          </a:p>
        </p:txBody>
      </p:sp>
      <p:sp>
        <p:nvSpPr>
          <p:cNvPr id="3" name="line SEEN"/>
          <p:cNvSpPr/>
          <p:nvPr/>
        </p:nvSpPr>
        <p:spPr>
          <a:xfrm>
            <a:off x="640080" y="2304288"/>
            <a:ext cx="2011680" cy="0"/>
          </a:xfrm>
          <a:prstGeom prst="line">
            <a:avLst/>
          </a:prstGeom>
          <a:noFill/>
          <a:ln w="50800">
            <a:solidFill>
              <a:srgbClr val="7ED957"/>
            </a:solidFill>
            <a:prstDash val="solid"/>
          </a:ln>
        </p:spPr>
      </p:sp>
      <p:sp>
        <p:nvSpPr>
          <p:cNvPr id="4" name="k SEEN"/>
          <p:cNvSpPr txBox="1"/>
          <p:nvPr/>
        </p:nvSpPr>
        <p:spPr>
          <a:xfrm>
            <a:off x="292608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7ED957"/>
                </a:solidFill>
              </a:rPr>
              <a:t>SEEN</a:t>
            </a:r>
            <a:endParaRPr lang="en-US" sz="2000" dirty="0"/>
          </a:p>
        </p:txBody>
      </p:sp>
      <p:sp>
        <p:nvSpPr>
          <p:cNvPr id="5" name="d SEEN"/>
          <p:cNvSpPr txBox="1"/>
          <p:nvPr/>
        </p:nvSpPr>
        <p:spPr>
          <a:xfrm>
            <a:off x="5394960" y="1920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Came from a real source: a map, a feed, a camera.</a:t>
            </a:r>
            <a:endParaRPr lang="en-US" sz="1500" dirty="0"/>
          </a:p>
        </p:txBody>
      </p:sp>
      <p:sp>
        <p:nvSpPr>
          <p:cNvPr id="6" name="how SEEN"/>
          <p:cNvSpPr txBox="1"/>
          <p:nvPr/>
        </p:nvSpPr>
        <p:spPr>
          <a:xfrm>
            <a:off x="996696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Solid ink.</a:t>
            </a:r>
            <a:endParaRPr lang="en-US" sz="1200" dirty="0"/>
          </a:p>
        </p:txBody>
      </p:sp>
      <p:sp>
        <p:nvSpPr>
          <p:cNvPr id="7" name="line WORKED OUT"/>
          <p:cNvSpPr/>
          <p:nvPr/>
        </p:nvSpPr>
        <p:spPr>
          <a:xfrm>
            <a:off x="640080" y="3355848"/>
            <a:ext cx="2011680" cy="0"/>
          </a:xfrm>
          <a:prstGeom prst="line">
            <a:avLst/>
          </a:prstGeom>
          <a:noFill/>
          <a:ln w="50800">
            <a:solidFill>
              <a:srgbClr val="00C2A8"/>
            </a:solidFill>
            <a:prstDash val="solid"/>
          </a:ln>
        </p:spPr>
      </p:sp>
      <p:sp>
        <p:nvSpPr>
          <p:cNvPr id="8" name="k WORKED OUT"/>
          <p:cNvSpPr txBox="1"/>
          <p:nvPr/>
        </p:nvSpPr>
        <p:spPr>
          <a:xfrm>
            <a:off x="2926080" y="2971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0C2A8"/>
                </a:solidFill>
              </a:rPr>
              <a:t>WORKED OUT</a:t>
            </a:r>
            <a:endParaRPr lang="en-US" sz="2000" dirty="0"/>
          </a:p>
        </p:txBody>
      </p:sp>
      <p:sp>
        <p:nvSpPr>
          <p:cNvPr id="9" name="d WORKED OUT"/>
          <p:cNvSpPr txBox="1"/>
          <p:nvPr/>
        </p:nvSpPr>
        <p:spPr>
          <a:xfrm>
            <a:off x="539496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Calculated from what was seen, like “this road is at 30% of its usual speed”.</a:t>
            </a:r>
            <a:endParaRPr lang="en-US" sz="1500" dirty="0"/>
          </a:p>
        </p:txBody>
      </p:sp>
      <p:sp>
        <p:nvSpPr>
          <p:cNvPr id="10" name="how WORKED OUT"/>
          <p:cNvSpPr txBox="1"/>
          <p:nvPr/>
        </p:nvSpPr>
        <p:spPr>
          <a:xfrm>
            <a:off x="9966960" y="2971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Soft colour.</a:t>
            </a:r>
            <a:endParaRPr lang="en-US" sz="1200" dirty="0"/>
          </a:p>
        </p:txBody>
      </p:sp>
      <p:sp>
        <p:nvSpPr>
          <p:cNvPr id="11" name="line PREDICTED"/>
          <p:cNvSpPr/>
          <p:nvPr/>
        </p:nvSpPr>
        <p:spPr>
          <a:xfrm>
            <a:off x="640080" y="4407408"/>
            <a:ext cx="2011680" cy="0"/>
          </a:xfrm>
          <a:prstGeom prst="line">
            <a:avLst/>
          </a:prstGeom>
          <a:noFill/>
          <a:ln w="50800">
            <a:solidFill>
              <a:srgbClr val="B7A6FF"/>
            </a:solidFill>
            <a:prstDash val="dash"/>
          </a:ln>
        </p:spPr>
      </p:sp>
      <p:sp>
        <p:nvSpPr>
          <p:cNvPr id="12" name="k PREDICTED"/>
          <p:cNvSpPr txBox="1"/>
          <p:nvPr/>
        </p:nvSpPr>
        <p:spPr>
          <a:xfrm>
            <a:off x="292608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B7A6FF"/>
                </a:solidFill>
              </a:rPr>
              <a:t>PREDICTED</a:t>
            </a:r>
            <a:endParaRPr lang="en-US" sz="2000" dirty="0"/>
          </a:p>
        </p:txBody>
      </p:sp>
      <p:sp>
        <p:nvSpPr>
          <p:cNvPr id="13" name="d PREDICTED"/>
          <p:cNvSpPr txBox="1"/>
          <p:nvPr/>
        </p:nvSpPr>
        <p:spPr>
          <a:xfrm>
            <a:off x="5394960" y="4023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What may come, from what the memory has seen before. Always carries a confidence.</a:t>
            </a:r>
            <a:endParaRPr lang="en-US" sz="1500" dirty="0"/>
          </a:p>
        </p:txBody>
      </p:sp>
      <p:sp>
        <p:nvSpPr>
          <p:cNvPr id="14" name="how PREDICTED"/>
          <p:cNvSpPr txBox="1"/>
          <p:nvPr/>
        </p:nvSpPr>
        <p:spPr>
          <a:xfrm>
            <a:off x="9966960" y="4023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Dashed ghost lines.</a:t>
            </a:r>
            <a:endParaRPr lang="en-US" sz="1200" dirty="0"/>
          </a:p>
        </p:txBody>
      </p:sp>
      <p:sp>
        <p:nvSpPr>
          <p:cNvPr id="15" name="line NO DATA"/>
          <p:cNvSpPr/>
          <p:nvPr/>
        </p:nvSpPr>
        <p:spPr>
          <a:xfrm>
            <a:off x="640080" y="5458968"/>
            <a:ext cx="2011680" cy="0"/>
          </a:xfrm>
          <a:prstGeom prst="line">
            <a:avLst/>
          </a:prstGeom>
          <a:noFill/>
          <a:ln w="50800">
            <a:solidFill>
              <a:srgbClr val="5B6B75">
                <a:alpha val="20000"/>
              </a:srgbClr>
            </a:solidFill>
            <a:prstDash val="solid"/>
          </a:ln>
        </p:spPr>
      </p:sp>
      <p:sp>
        <p:nvSpPr>
          <p:cNvPr id="16" name="k NO DATA"/>
          <p:cNvSpPr txBox="1"/>
          <p:nvPr/>
        </p:nvSpPr>
        <p:spPr>
          <a:xfrm>
            <a:off x="2926080" y="5074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5B6B75"/>
                </a:solidFill>
              </a:rPr>
              <a:t>NO DATA</a:t>
            </a:r>
            <a:endParaRPr lang="en-US" sz="2000" dirty="0"/>
          </a:p>
        </p:txBody>
      </p:sp>
      <p:sp>
        <p:nvSpPr>
          <p:cNvPr id="17" name="d NO DATA"/>
          <p:cNvSpPr txBox="1"/>
          <p:nvPr/>
        </p:nvSpPr>
        <p:spPr>
          <a:xfrm>
            <a:off x="5394960" y="5074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Where a reading is missing it says so. Nothing is ever made up.</a:t>
            </a:r>
            <a:endParaRPr lang="en-US" sz="1500" dirty="0"/>
          </a:p>
        </p:txBody>
      </p:sp>
      <p:sp>
        <p:nvSpPr>
          <p:cNvPr id="18" name="how NO DATA"/>
          <p:cNvSpPr txBox="1"/>
          <p:nvPr/>
        </p:nvSpPr>
        <p:spPr>
          <a:xfrm>
            <a:off x="9966960" y="5074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Left blank.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Click anywhere. Every place gets a score, and every score answers “why?”</a:t>
            </a:r>
            <a:endParaRPr lang="en-US" sz="3000" dirty="0"/>
          </a:p>
        </p:txBody>
      </p:sp>
      <p:pic>
        <p:nvPicPr>
          <p:cNvPr id="3" name="place card" descr="/tmp/claude-0/-home-user-infrashield-bengaluru/a8cb06fe-0dee-5151-816d-47fd2cee5e5d/scratchpad/pro-si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737360"/>
            <a:ext cx="5577840" cy="348386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One hexagon of the city, about 0.1 km²: traffic against its usual, incidents, air, rain, green space, healthcare, schools, transport, walkability, connectivity.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WHY opens the evidence: the lines it was worked out from, its class, a confidence, the source, time and resolution.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The same facts re-weighted for a family, a student, a young professional or a retiree.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Flood and population stay “no data” until their adapters exist.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Past. Now. Future. Time is part of every place.</a:t>
            </a:r>
            <a:endParaRPr lang="en-US" sz="3000" dirty="0"/>
          </a:p>
        </p:txBody>
      </p:sp>
      <p:pic>
        <p:nvPicPr>
          <p:cNvPr id="3" name="past" descr="/tmp/claude-0/-home-user-infrashield-bengaluru/a8cb06fe-0dee-5151-816d-47fd2cee5e5d/scratchpad/tm-p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394960" cy="337413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pic>
        <p:nvPicPr>
          <p:cNvPr id="4" name="future" descr="/tmp/claude-0/-home-user-infrashield-bengaluru/a8cb06fe-0dee-5151-816d-47fd2cee5e5d/scratchpad/tm-fu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828800"/>
            <a:ext cx="5394960" cy="337413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5" name="chip REMEMBERED"/>
          <p:cNvSpPr/>
          <p:nvPr/>
        </p:nvSpPr>
        <p:spPr>
          <a:xfrm>
            <a:off x="640080" y="53492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6" name="chip text REMEMBERED"/>
          <p:cNvSpPr txBox="1"/>
          <p:nvPr/>
        </p:nvSpPr>
        <p:spPr>
          <a:xfrm>
            <a:off x="640080" y="53492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REMEMBERED</a:t>
            </a:r>
            <a:endParaRPr lang="en-US" sz="1000" dirty="0"/>
          </a:p>
        </p:txBody>
      </p:sp>
      <p:sp>
        <p:nvSpPr>
          <p:cNvPr id="7" name="past text"/>
          <p:cNvSpPr txBox="1"/>
          <p:nvPr/>
        </p:nvSpPr>
        <p:spPr>
          <a:xfrm>
            <a:off x="228600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What the city actually read at that minute. Nothing interpolated; roads without a reading stay blank.</a:t>
            </a:r>
            <a:endParaRPr lang="en-US" sz="1200" dirty="0"/>
          </a:p>
        </p:txBody>
      </p:sp>
      <p:sp>
        <p:nvSpPr>
          <p:cNvPr id="8" name="chip PREDICTED"/>
          <p:cNvSpPr/>
          <p:nvPr/>
        </p:nvSpPr>
        <p:spPr>
          <a:xfrm>
            <a:off x="6172200" y="53492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B7A6FF"/>
          </a:solidFill>
          <a:ln w="12700">
            <a:solidFill>
              <a:srgbClr val="B7A6FF"/>
            </a:solidFill>
            <a:prstDash val="solid"/>
          </a:ln>
        </p:spPr>
      </p:sp>
      <p:sp>
        <p:nvSpPr>
          <p:cNvPr id="9" name="chip text PREDICTED"/>
          <p:cNvSpPr txBox="1"/>
          <p:nvPr/>
        </p:nvSpPr>
        <p:spPr>
          <a:xfrm>
            <a:off x="6172200" y="53492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1"/>
                </a:solidFill>
              </a:rPr>
              <a:t>PREDICTED</a:t>
            </a:r>
            <a:endParaRPr lang="en-US" sz="1000" dirty="0"/>
          </a:p>
        </p:txBody>
      </p:sp>
      <p:sp>
        <p:nvSpPr>
          <p:cNvPr id="10" name="future text"/>
          <p:cNvSpPr txBox="1"/>
          <p:nvPr/>
        </p:nvSpPr>
        <p:spPr>
          <a:xfrm>
            <a:off x="7818120" y="5303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What each road usually reads at that hour, with today’s unusual traffic fading out, dashed, with a confidence.</a:t>
            </a:r>
            <a:endParaRPr lang="en-US" sz="12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Ask the city. Get evidence, not guesses.</a:t>
            </a:r>
            <a:endParaRPr lang="en-US" sz="3000" dirty="0"/>
          </a:p>
        </p:txBody>
      </p:sp>
      <p:pic>
        <p:nvPicPr>
          <p:cNvPr id="3" name="ask atlas" descr="/tmp/claude-0/-home-user-infrashield-bengaluru/a8cb06fe-0dee-5151-816d-47fd2cee5e5d/scratchpad/pro-scena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5577840" cy="348386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“Why is traffic slow?” “Show unusual activity.” “Where should I open a café?”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A question chooses the tools behind the answer: the place state, the memory, the change ranking, the router, the site finder.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The writer phrases facts; it never adds one. It says when a line is a guess.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What changed? ranks the meaningful changes since yesterday for the view on screen, each with its source.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Which way home is calmer? Anywhere in India, with live traffic.</a:t>
            </a:r>
            <a:endParaRPr lang="en-US" sz="3000" dirty="0"/>
          </a:p>
        </p:txBody>
      </p:sp>
      <p:pic>
        <p:nvPicPr>
          <p:cNvPr id="3" name="route options" descr="/tmp/claude-0/-home-user-infrashield-bengaluru/a8cb06fe-0dee-5151-816d-47fd2cee5e5d/scratchpad/route-f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737360"/>
            <a:ext cx="5577840" cy="348386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Type any place or lane; routes come from the live routing engine with today’s traffic.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Every option shows minutes, kilometres, the traffic delay and the incidents the city has seen within 300 m of 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The route with strictly fewer reported incidents is marked. It is never called “safe”.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Zones count who walks in and out from a phone camera: dots, not faces. Alerts arrive by WhatsApp or SMS.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6035040" y="18288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chemeClr val="bg1"/>
                </a:solidFill>
              </a:rPr>
              <a:t>SEE</a:t>
            </a:r>
            <a:endParaRPr lang="en-US" sz="800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8000" b="1" dirty="0">
                <a:solidFill>
                  <a:schemeClr val="bg1"/>
                </a:solidFill>
              </a:rPr>
              <a:t>WHAT IS.</a:t>
            </a:r>
            <a:endParaRPr lang="en-US" sz="8000" dirty="0"/>
          </a:p>
        </p:txBody>
      </p:sp>
      <p:sp>
        <p:nvSpPr>
          <p:cNvPr id="3" name="subline"/>
          <p:cNvSpPr txBox="1"/>
          <p:nvPr/>
        </p:nvSpPr>
        <p:spPr>
          <a:xfrm>
            <a:off x="6035040" y="42976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Live traffic, incidents, air and rain. Nothing made up.</a:t>
            </a:r>
            <a:endParaRPr lang="en-US" sz="1800" dirty="0"/>
          </a:p>
        </p:txBody>
      </p:sp>
      <p:pic>
        <p:nvPicPr>
          <p:cNvPr id="4" name="logo" descr="/tmp/claude-0/-home-user-infrashield-bengaluru/a8cb06fe-0dee-5151-816d-47fd2cee5e5d/scratchpad/logo/city-atlas-horizontal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0"/>
            <a:ext cx="2651760" cy="7406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Free: what is here. Plus: what it means for you. Pro: what it means for a decision.</a:t>
            </a:r>
            <a:endParaRPr lang="en-US" sz="3000" dirty="0"/>
          </a:p>
        </p:txBody>
      </p:sp>
      <p:sp>
        <p:nvSpPr>
          <p:cNvPr id="3" name="tier 0"/>
          <p:cNvSpPr/>
          <p:nvPr/>
        </p:nvSpPr>
        <p:spPr>
          <a:xfrm>
            <a:off x="640080" y="1828800"/>
            <a:ext cx="3429000" cy="4206240"/>
          </a:xfrm>
          <a:prstGeom prst="roundRect">
            <a:avLst>
              <a:gd name="adj" fmla="val 5333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  <a:effectLst>
            <a:outerShdw sx="100000" sy="100000" kx="0" ky="0" algn="bl" rotWithShape="0" blurRad="127000" dist="38100" dir="5400000">
              <a:srgbClr val="071924">
                <a:alpha val="12000"/>
              </a:srgbClr>
            </a:outerShdw>
          </a:effectLst>
        </p:spPr>
      </p:sp>
      <p:sp>
        <p:nvSpPr>
          <p:cNvPr id="4" name="tier dot 0"/>
          <p:cNvSpPr/>
          <p:nvPr/>
        </p:nvSpPr>
        <p:spPr>
          <a:xfrm>
            <a:off x="960120" y="2148840"/>
            <a:ext cx="329184" cy="329184"/>
          </a:xfrm>
          <a:prstGeom prst="ellipse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5" name="tier name 0"/>
          <p:cNvSpPr txBox="1"/>
          <p:nvPr/>
        </p:nvSpPr>
        <p:spPr>
          <a:xfrm>
            <a:off x="1417320" y="2103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1"/>
                </a:solidFill>
              </a:rPr>
              <a:t>CITY ATLAS</a:t>
            </a:r>
            <a:endParaRPr lang="en-US" sz="1500" dirty="0"/>
          </a:p>
        </p:txBody>
      </p:sp>
      <p:sp>
        <p:nvSpPr>
          <p:cNvPr id="6" name="tier tag 0"/>
          <p:cNvSpPr txBox="1"/>
          <p:nvPr/>
        </p:nvSpPr>
        <p:spPr>
          <a:xfrm>
            <a:off x="960120" y="2651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Know your surroundings.</a:t>
            </a:r>
            <a:endParaRPr lang="en-US" sz="1300" dirty="0"/>
          </a:p>
        </p:txBody>
      </p:sp>
      <p:sp>
        <p:nvSpPr>
          <p:cNvPr id="7" name="tier items 0"/>
          <p:cNvSpPr txBox="1"/>
          <p:nvPr/>
        </p:nvSpPr>
        <p:spPr>
          <a:xfrm>
            <a:off x="960120" y="333756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Conditions around you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Click anywhere: the place card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Ask Atlas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Traffic, safety, air, rain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Three changes since yesterday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Routes with live traffic</a:t>
            </a:r>
            <a:endParaRPr lang="en-US" sz="1300" dirty="0"/>
          </a:p>
        </p:txBody>
      </p:sp>
      <p:sp>
        <p:nvSpPr>
          <p:cNvPr id="8" name="tier 1"/>
          <p:cNvSpPr/>
          <p:nvPr/>
        </p:nvSpPr>
        <p:spPr>
          <a:xfrm>
            <a:off x="4343400" y="1828800"/>
            <a:ext cx="3429000" cy="4206240"/>
          </a:xfrm>
          <a:prstGeom prst="roundRect">
            <a:avLst>
              <a:gd name="adj" fmla="val 5333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  <a:effectLst>
            <a:outerShdw sx="100000" sy="100000" kx="0" ky="0" algn="bl" rotWithShape="0" blurRad="127000" dist="38100" dir="5400000">
              <a:srgbClr val="071924">
                <a:alpha val="12000"/>
              </a:srgbClr>
            </a:outerShdw>
          </a:effectLst>
        </p:spPr>
      </p:sp>
      <p:sp>
        <p:nvSpPr>
          <p:cNvPr id="9" name="tier dot 1"/>
          <p:cNvSpPr/>
          <p:nvPr/>
        </p:nvSpPr>
        <p:spPr>
          <a:xfrm>
            <a:off x="4663440" y="2148840"/>
            <a:ext cx="329184" cy="329184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ier name 1"/>
          <p:cNvSpPr txBox="1"/>
          <p:nvPr/>
        </p:nvSpPr>
        <p:spPr>
          <a:xfrm>
            <a:off x="5120640" y="2103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1"/>
                </a:solidFill>
              </a:rPr>
              <a:t>CITY ATLAS PLUS</a:t>
            </a:r>
            <a:endParaRPr lang="en-US" sz="1500" dirty="0"/>
          </a:p>
        </p:txBody>
      </p:sp>
      <p:sp>
        <p:nvSpPr>
          <p:cNvPr id="11" name="tier tag 1"/>
          <p:cNvSpPr txBox="1"/>
          <p:nvPr/>
        </p:nvSpPr>
        <p:spPr>
          <a:xfrm>
            <a:off x="4663440" y="2651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Understand how your city affects you.</a:t>
            </a:r>
            <a:endParaRPr lang="en-US" sz="1300" dirty="0"/>
          </a:p>
        </p:txBody>
      </p:sp>
      <p:sp>
        <p:nvSpPr>
          <p:cNvPr id="12" name="tier items 1"/>
          <p:cNvSpPr txBox="1"/>
          <p:nvPr/>
        </p:nvSpPr>
        <p:spPr>
          <a:xfrm>
            <a:off x="4663440" y="333756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Unlimited Ask Atlas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Live-here views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Before you rent or buy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Compare three areas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Watch areas and see them move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Alerts by WhatsApp or SMS</a:t>
            </a:r>
            <a:endParaRPr lang="en-US" sz="1300" dirty="0"/>
          </a:p>
        </p:txBody>
      </p:sp>
      <p:sp>
        <p:nvSpPr>
          <p:cNvPr id="13" name="tier 2"/>
          <p:cNvSpPr/>
          <p:nvPr/>
        </p:nvSpPr>
        <p:spPr>
          <a:xfrm>
            <a:off x="8046720" y="1828800"/>
            <a:ext cx="3429000" cy="4206240"/>
          </a:xfrm>
          <a:prstGeom prst="roundRect">
            <a:avLst>
              <a:gd name="adj" fmla="val 5333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  <a:effectLst>
            <a:outerShdw sx="100000" sy="100000" kx="0" ky="0" algn="bl" rotWithShape="0" blurRad="127000" dist="38100" dir="5400000">
              <a:srgbClr val="071924">
                <a:alpha val="12000"/>
              </a:srgbClr>
            </a:outerShdw>
          </a:effectLst>
        </p:spPr>
      </p:sp>
      <p:sp>
        <p:nvSpPr>
          <p:cNvPr id="14" name="tier dot 2"/>
          <p:cNvSpPr/>
          <p:nvPr/>
        </p:nvSpPr>
        <p:spPr>
          <a:xfrm>
            <a:off x="8366760" y="2148840"/>
            <a:ext cx="329184" cy="329184"/>
          </a:xfrm>
          <a:prstGeom prst="ellipse">
            <a:avLst/>
          </a:prstGeom>
          <a:solidFill>
            <a:srgbClr val="0F6FFF"/>
          </a:solidFill>
          <a:ln w="12700">
            <a:solidFill>
              <a:srgbClr val="0F6FFF"/>
            </a:solidFill>
            <a:prstDash val="solid"/>
          </a:ln>
        </p:spPr>
      </p:sp>
      <p:sp>
        <p:nvSpPr>
          <p:cNvPr id="15" name="tier name 2"/>
          <p:cNvSpPr txBox="1"/>
          <p:nvPr/>
        </p:nvSpPr>
        <p:spPr>
          <a:xfrm>
            <a:off x="8823960" y="2103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chemeClr val="tx1"/>
                </a:solidFill>
              </a:rPr>
              <a:t>CITY ATLAS PRO</a:t>
            </a:r>
            <a:endParaRPr lang="en-US" sz="1500" dirty="0"/>
          </a:p>
        </p:txBody>
      </p:sp>
      <p:sp>
        <p:nvSpPr>
          <p:cNvPr id="16" name="tier tag 2"/>
          <p:cNvSpPr txBox="1"/>
          <p:nvPr/>
        </p:nvSpPr>
        <p:spPr>
          <a:xfrm>
            <a:off x="8366760" y="2651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Turn location into intelligence for serious decisions.</a:t>
            </a:r>
            <a:endParaRPr lang="en-US" sz="1300" dirty="0"/>
          </a:p>
        </p:txBody>
      </p:sp>
      <p:sp>
        <p:nvSpPr>
          <p:cNvPr id="17" name="tier items 2"/>
          <p:cNvSpPr txBox="1"/>
          <p:nvPr/>
        </p:nvSpPr>
        <p:spPr>
          <a:xfrm>
            <a:off x="8366760" y="333756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Site finder for a purpose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Scenario Lab: road closes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Project workspace, GeoJSON/CSV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Client reports to PDF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Everything in Plus</a:t>
            </a:r>
            <a:endParaRPr lang="en-US" sz="1300" dirty="0"/>
          </a:p>
        </p:txBody>
      </p:sp>
      <p:sp>
        <p:nvSpPr>
          <p:cNvPr id="18" name="motto"/>
          <p:cNvSpPr txBox="1"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Never paywall basic knowledge. Paywall computational leverage.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Pro: a workstation on the same city model.</a:t>
            </a:r>
            <a:endParaRPr lang="en-US" sz="3000" dirty="0"/>
          </a:p>
        </p:txBody>
      </p:sp>
      <p:sp>
        <p:nvSpPr>
          <p:cNvPr id="3" name="pro dot 0"/>
          <p:cNvSpPr/>
          <p:nvPr/>
        </p:nvSpPr>
        <p:spPr>
          <a:xfrm>
            <a:off x="640080" y="1901952"/>
            <a:ext cx="457200" cy="457200"/>
          </a:xfrm>
          <a:prstGeom prst="ellipse">
            <a:avLst/>
          </a:prstGeom>
          <a:solidFill>
            <a:srgbClr val="0F6FFF"/>
          </a:solidFill>
          <a:ln w="12700">
            <a:solidFill>
              <a:srgbClr val="0F6FFF"/>
            </a:solidFill>
            <a:prstDash val="solid"/>
          </a:ln>
        </p:spPr>
      </p:sp>
      <p:sp>
        <p:nvSpPr>
          <p:cNvPr id="4" name="pro h 0"/>
          <p:cNvSpPr txBox="1"/>
          <p:nvPr/>
        </p:nvSpPr>
        <p:spPr>
          <a:xfrm>
            <a:off x="12801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Site finder</a:t>
            </a:r>
            <a:endParaRPr lang="en-US" sz="2000" dirty="0"/>
          </a:p>
        </p:txBody>
      </p:sp>
      <p:sp>
        <p:nvSpPr>
          <p:cNvPr id="5" name="pro d 0"/>
          <p:cNvSpPr txBox="1"/>
          <p:nvPr/>
        </p:nvSpPr>
        <p:spPr>
          <a:xfrm>
            <a:off x="128016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Pick café, pharmacy, clinic, school, shop, office, warehouse or home. The hexagons on screen are ranked from the same real scores; a gap in supply counts for a pharmacy; every candidate says why and what has no data.</a:t>
            </a:r>
            <a:endParaRPr lang="en-US" sz="1250" dirty="0"/>
          </a:p>
        </p:txBody>
      </p:sp>
      <p:sp>
        <p:nvSpPr>
          <p:cNvPr id="6" name="pro dot 1"/>
          <p:cNvSpPr/>
          <p:nvPr/>
        </p:nvSpPr>
        <p:spPr>
          <a:xfrm>
            <a:off x="640080" y="3319272"/>
            <a:ext cx="457200" cy="457200"/>
          </a:xfrm>
          <a:prstGeom prst="ellipse">
            <a:avLst/>
          </a:prstGeom>
          <a:solidFill>
            <a:srgbClr val="B7A6FF"/>
          </a:solidFill>
          <a:ln w="12700">
            <a:solidFill>
              <a:srgbClr val="B7A6FF"/>
            </a:solidFill>
            <a:prstDash val="solid"/>
          </a:ln>
        </p:spPr>
      </p:sp>
      <p:sp>
        <p:nvSpPr>
          <p:cNvPr id="7" name="pro h 1"/>
          <p:cNvSpPr txBox="1"/>
          <p:nvPr/>
        </p:nvSpPr>
        <p:spPr>
          <a:xfrm>
            <a:off x="128016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Scenario Lab</a:t>
            </a:r>
            <a:endParaRPr lang="en-US" sz="2000" dirty="0"/>
          </a:p>
        </p:txBody>
      </p:sp>
      <p:sp>
        <p:nvSpPr>
          <p:cNvPr id="8" name="pro d 1"/>
          <p:cNvSpPr txBox="1"/>
          <p:nvPr/>
        </p:nvSpPr>
        <p:spPr>
          <a:xfrm>
            <a:off x="1280160" y="3749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“Road closes” removes the drawn area from the network and the live router re-plans the trip. Metro, new development and signal timing are listed as not modelled, with the reason.</a:t>
            </a:r>
            <a:endParaRPr lang="en-US" sz="1250" dirty="0"/>
          </a:p>
        </p:txBody>
      </p:sp>
      <p:sp>
        <p:nvSpPr>
          <p:cNvPr id="9" name="pro dot 2"/>
          <p:cNvSpPr/>
          <p:nvPr/>
        </p:nvSpPr>
        <p:spPr>
          <a:xfrm>
            <a:off x="640080" y="4736592"/>
            <a:ext cx="457200" cy="4572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pro h 2"/>
          <p:cNvSpPr txBox="1"/>
          <p:nvPr/>
        </p:nvSpPr>
        <p:spPr>
          <a:xfrm>
            <a:off x="128016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Projects and reports</a:t>
            </a:r>
            <a:endParaRPr lang="en-US" sz="2000" dirty="0"/>
          </a:p>
        </p:txBody>
      </p:sp>
      <p:sp>
        <p:nvSpPr>
          <p:cNvPr id="11" name="pro d 2"/>
          <p:cNvSpPr txBox="1"/>
          <p:nvPr/>
        </p:nvSpPr>
        <p:spPr>
          <a:xfrm>
            <a:off x="128016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Shortlists, scenarios and watched areas saved to a workspace, exported as GeoJSON or CSV; a client report with every score’s class, confidence and source.</a:t>
            </a:r>
            <a:endParaRPr lang="en-US" sz="1250" dirty="0"/>
          </a:p>
        </p:txBody>
      </p:sp>
      <p:pic>
        <p:nvPicPr>
          <p:cNvPr id="12" name="saved and projects" descr="/tmp/claude-0/-home-user-infrashield-bengaluru/a8cb06fe-0dee-5151-816d-47fd2cee5e5d/scratchpad/pro-sav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737360"/>
            <a:ext cx="5029200" cy="314553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14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city model. Everything flows through it.</a:t>
            </a:r>
            <a:endParaRPr lang="en-US" sz="3000" dirty="0"/>
          </a:p>
        </p:txBody>
      </p:sp>
      <p:sp>
        <p:nvSpPr>
          <p:cNvPr id="3" name="step SOURCES"/>
          <p:cNvSpPr/>
          <p:nvPr/>
        </p:nvSpPr>
        <p:spPr>
          <a:xfrm>
            <a:off x="640080" y="210312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</p:spPr>
      </p:sp>
      <p:sp>
        <p:nvSpPr>
          <p:cNvPr id="4" name="step dot SOURCES"/>
          <p:cNvSpPr/>
          <p:nvPr/>
        </p:nvSpPr>
        <p:spPr>
          <a:xfrm>
            <a:off x="914400" y="2377440"/>
            <a:ext cx="384048" cy="384048"/>
          </a:xfrm>
          <a:prstGeom prst="ellipse">
            <a:avLst/>
          </a:prstGeom>
          <a:solidFill>
            <a:srgbClr val="7ED957"/>
          </a:solidFill>
          <a:ln w="12700">
            <a:solidFill>
              <a:srgbClr val="7ED957"/>
            </a:solidFill>
            <a:prstDash val="solid"/>
          </a:ln>
        </p:spPr>
      </p:sp>
      <p:sp>
        <p:nvSpPr>
          <p:cNvPr id="5" name="step h SOURCES"/>
          <p:cNvSpPr txBox="1"/>
          <p:nvPr/>
        </p:nvSpPr>
        <p:spPr>
          <a:xfrm>
            <a:off x="141732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SOURCES</a:t>
            </a:r>
            <a:endParaRPr lang="en-US" sz="1200" dirty="0"/>
          </a:p>
        </p:txBody>
      </p:sp>
      <p:sp>
        <p:nvSpPr>
          <p:cNvPr id="6" name="step d SOURCES"/>
          <p:cNvSpPr txBox="1"/>
          <p:nvPr/>
        </p:nvSpPr>
        <p:spPr>
          <a:xfrm>
            <a:off x="914400" y="297180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OpenStreetMap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TomTom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Open-Meteo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Camera, uploads</a:t>
            </a:r>
            <a:endParaRPr lang="en-US" sz="1250" dirty="0"/>
          </a:p>
        </p:txBody>
      </p:sp>
      <p:sp>
        <p:nvSpPr>
          <p:cNvPr id="7" name="arrow 0"/>
          <p:cNvSpPr txBox="1"/>
          <p:nvPr/>
        </p:nvSpPr>
        <p:spPr>
          <a:xfrm>
            <a:off x="265176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tep MEMORY"/>
          <p:cNvSpPr/>
          <p:nvPr/>
        </p:nvSpPr>
        <p:spPr>
          <a:xfrm>
            <a:off x="2926080" y="210312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</p:spPr>
      </p:sp>
      <p:sp>
        <p:nvSpPr>
          <p:cNvPr id="9" name="step dot MEMORY"/>
          <p:cNvSpPr/>
          <p:nvPr/>
        </p:nvSpPr>
        <p:spPr>
          <a:xfrm>
            <a:off x="3200400" y="2377440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step h MEMORY"/>
          <p:cNvSpPr txBox="1"/>
          <p:nvPr/>
        </p:nvSpPr>
        <p:spPr>
          <a:xfrm>
            <a:off x="370332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MEMORY</a:t>
            </a:r>
            <a:endParaRPr lang="en-US" sz="1200" dirty="0"/>
          </a:p>
        </p:txBody>
      </p:sp>
      <p:sp>
        <p:nvSpPr>
          <p:cNvPr id="11" name="step d MEMORY"/>
          <p:cNvSpPr txBox="1"/>
          <p:nvPr/>
        </p:nvSpPr>
        <p:spPr>
          <a:xfrm>
            <a:off x="3200400" y="297180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Every reading kept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H3 cells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28-day baselines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Daily snapshots</a:t>
            </a:r>
            <a:endParaRPr lang="en-US" sz="1250" dirty="0"/>
          </a:p>
        </p:txBody>
      </p:sp>
      <p:sp>
        <p:nvSpPr>
          <p:cNvPr id="12" name="arrow 1"/>
          <p:cNvSpPr txBox="1"/>
          <p:nvPr/>
        </p:nvSpPr>
        <p:spPr>
          <a:xfrm>
            <a:off x="493776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tep REASONING"/>
          <p:cNvSpPr/>
          <p:nvPr/>
        </p:nvSpPr>
        <p:spPr>
          <a:xfrm>
            <a:off x="5212080" y="210312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</p:spPr>
      </p:sp>
      <p:sp>
        <p:nvSpPr>
          <p:cNvPr id="14" name="step dot REASONING"/>
          <p:cNvSpPr/>
          <p:nvPr/>
        </p:nvSpPr>
        <p:spPr>
          <a:xfrm>
            <a:off x="5486400" y="2377440"/>
            <a:ext cx="384048" cy="384048"/>
          </a:xfrm>
          <a:prstGeom prst="ellipse">
            <a:avLst/>
          </a:prstGeom>
          <a:solidFill>
            <a:srgbClr val="0F6FFF"/>
          </a:solidFill>
          <a:ln w="12700">
            <a:solidFill>
              <a:srgbClr val="0F6FFF"/>
            </a:solidFill>
            <a:prstDash val="solid"/>
          </a:ln>
        </p:spPr>
      </p:sp>
      <p:sp>
        <p:nvSpPr>
          <p:cNvPr id="15" name="step h REASONING"/>
          <p:cNvSpPr txBox="1"/>
          <p:nvPr/>
        </p:nvSpPr>
        <p:spPr>
          <a:xfrm>
            <a:off x="598932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REASONING</a:t>
            </a:r>
            <a:endParaRPr lang="en-US" sz="1200" dirty="0"/>
          </a:p>
        </p:txBody>
      </p:sp>
      <p:sp>
        <p:nvSpPr>
          <p:cNvPr id="16" name="step d REASONING"/>
          <p:cNvSpPr txBox="1"/>
          <p:nvPr/>
        </p:nvSpPr>
        <p:spPr>
          <a:xfrm>
            <a:off x="5486400" y="297180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Place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Changes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Routing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Site finder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Forecast</a:t>
            </a:r>
            <a:endParaRPr lang="en-US" sz="1250" dirty="0"/>
          </a:p>
        </p:txBody>
      </p:sp>
      <p:sp>
        <p:nvSpPr>
          <p:cNvPr id="17" name="arrow 2"/>
          <p:cNvSpPr txBox="1"/>
          <p:nvPr/>
        </p:nvSpPr>
        <p:spPr>
          <a:xfrm>
            <a:off x="722376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tep WORDS"/>
          <p:cNvSpPr/>
          <p:nvPr/>
        </p:nvSpPr>
        <p:spPr>
          <a:xfrm>
            <a:off x="7498080" y="210312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</p:spPr>
      </p:sp>
      <p:sp>
        <p:nvSpPr>
          <p:cNvPr id="19" name="step dot WORDS"/>
          <p:cNvSpPr/>
          <p:nvPr/>
        </p:nvSpPr>
        <p:spPr>
          <a:xfrm>
            <a:off x="7772400" y="2377440"/>
            <a:ext cx="384048" cy="384048"/>
          </a:xfrm>
          <a:prstGeom prst="ellipse">
            <a:avLst/>
          </a:prstGeom>
          <a:solidFill>
            <a:srgbClr val="B7A6FF"/>
          </a:solidFill>
          <a:ln w="12700">
            <a:solidFill>
              <a:srgbClr val="B7A6FF"/>
            </a:solidFill>
            <a:prstDash val="solid"/>
          </a:ln>
        </p:spPr>
      </p:sp>
      <p:sp>
        <p:nvSpPr>
          <p:cNvPr id="20" name="step h WORDS"/>
          <p:cNvSpPr txBox="1"/>
          <p:nvPr/>
        </p:nvSpPr>
        <p:spPr>
          <a:xfrm>
            <a:off x="827532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WORDS</a:t>
            </a:r>
            <a:endParaRPr lang="en-US" sz="1200" dirty="0"/>
          </a:p>
        </p:txBody>
      </p:sp>
      <p:sp>
        <p:nvSpPr>
          <p:cNvPr id="21" name="step d WORDS"/>
          <p:cNvSpPr txBox="1"/>
          <p:nvPr/>
        </p:nvSpPr>
        <p:spPr>
          <a:xfrm>
            <a:off x="7772400" y="297180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Ask Atlas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English / Hindi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Facts in, prose out</a:t>
            </a:r>
            <a:endParaRPr lang="en-US" sz="1250" dirty="0"/>
          </a:p>
        </p:txBody>
      </p:sp>
      <p:sp>
        <p:nvSpPr>
          <p:cNvPr id="22" name="arrow 3"/>
          <p:cNvSpPr txBox="1"/>
          <p:nvPr/>
        </p:nvSpPr>
        <p:spPr>
          <a:xfrm>
            <a:off x="9509760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tep MAP"/>
          <p:cNvSpPr/>
          <p:nvPr/>
        </p:nvSpPr>
        <p:spPr>
          <a:xfrm>
            <a:off x="9784080" y="2103120"/>
            <a:ext cx="2011680" cy="3108960"/>
          </a:xfrm>
          <a:prstGeom prst="roundRect">
            <a:avLst>
              <a:gd name="adj" fmla="val 8182"/>
            </a:avLst>
          </a:prstGeom>
          <a:solidFill>
            <a:srgbClr val="EEF5F8"/>
          </a:solidFill>
          <a:ln w="12700">
            <a:solidFill>
              <a:srgbClr val="EEF5F8"/>
            </a:solidFill>
            <a:prstDash val="solid"/>
          </a:ln>
        </p:spPr>
      </p:sp>
      <p:sp>
        <p:nvSpPr>
          <p:cNvPr id="24" name="step dot MAP"/>
          <p:cNvSpPr/>
          <p:nvPr/>
        </p:nvSpPr>
        <p:spPr>
          <a:xfrm>
            <a:off x="10058400" y="2377440"/>
            <a:ext cx="384048" cy="384048"/>
          </a:xfrm>
          <a:prstGeom prst="ellipse">
            <a:avLst/>
          </a:prstGeom>
          <a:solidFill>
            <a:srgbClr val="0B1F2C"/>
          </a:solidFill>
          <a:ln w="12700">
            <a:solidFill>
              <a:srgbClr val="0B1F2C"/>
            </a:solidFill>
            <a:prstDash val="solid"/>
          </a:ln>
        </p:spPr>
      </p:sp>
      <p:sp>
        <p:nvSpPr>
          <p:cNvPr id="25" name="step h MAP"/>
          <p:cNvSpPr txBox="1"/>
          <p:nvPr/>
        </p:nvSpPr>
        <p:spPr>
          <a:xfrm>
            <a:off x="1056132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MAP</a:t>
            </a:r>
            <a:endParaRPr lang="en-US" sz="1200" dirty="0"/>
          </a:p>
        </p:txBody>
      </p:sp>
      <p:sp>
        <p:nvSpPr>
          <p:cNvPr id="26" name="step d MAP"/>
          <p:cNvSpPr txBox="1"/>
          <p:nvPr/>
        </p:nvSpPr>
        <p:spPr>
          <a:xfrm>
            <a:off x="10058400" y="297180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Ink tiers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Traffic colours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Callouts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Time bar</a:t>
            </a:r>
            <a:endParaRPr lang="en-US" sz="1250" dirty="0"/>
          </a:p>
        </p:txBody>
      </p:sp>
      <p:sp>
        <p:nvSpPr>
          <p:cNvPr id="27" name="stack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FastAPI + SQLite on one Render service · React, Vite and TypeScript in the browser · the fogleman/ln line engine and the Shan Shui chunk pipeline for the ink.</a:t>
            </a:r>
            <a:endParaRPr lang="en-US" sz="12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Built, tested, deployed. Today.</a:t>
            </a:r>
            <a:endParaRPr lang="en-US" sz="3000" dirty="0"/>
          </a:p>
        </p:txBody>
      </p:sp>
      <p:sp>
        <p:nvSpPr>
          <p:cNvPr id="3" name="stat 0"/>
          <p:cNvSpPr txBox="1"/>
          <p:nvPr/>
        </p:nvSpPr>
        <p:spPr>
          <a:xfrm>
            <a:off x="640080" y="21031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3"/>
                </a:solidFill>
              </a:rPr>
              <a:t>141</a:t>
            </a:r>
            <a:endParaRPr lang="en-US" sz="6400" dirty="0"/>
          </a:p>
        </p:txBody>
      </p:sp>
      <p:sp>
        <p:nvSpPr>
          <p:cNvPr id="4" name="stat l 0"/>
          <p:cNvSpPr txBox="1"/>
          <p:nvPr/>
        </p:nvSpPr>
        <p:spPr>
          <a:xfrm>
            <a:off x="64008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automated tests, web and server</a:t>
            </a:r>
            <a:endParaRPr lang="en-US" sz="1400" dirty="0"/>
          </a:p>
        </p:txBody>
      </p:sp>
      <p:sp>
        <p:nvSpPr>
          <p:cNvPr id="5" name="stat 1"/>
          <p:cNvSpPr txBox="1"/>
          <p:nvPr/>
        </p:nvSpPr>
        <p:spPr>
          <a:xfrm>
            <a:off x="3429000" y="21031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28</a:t>
            </a:r>
            <a:endParaRPr lang="en-US" sz="6400" dirty="0"/>
          </a:p>
        </p:txBody>
      </p:sp>
      <p:sp>
        <p:nvSpPr>
          <p:cNvPr id="6" name="stat l 1"/>
          <p:cNvSpPr txBox="1"/>
          <p:nvPr/>
        </p:nvSpPr>
        <p:spPr>
          <a:xfrm>
            <a:off x="342900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states and territories, one movable frame</a:t>
            </a:r>
            <a:endParaRPr lang="en-US" sz="1400" dirty="0"/>
          </a:p>
        </p:txBody>
      </p:sp>
      <p:sp>
        <p:nvSpPr>
          <p:cNvPr id="7" name="stat 2"/>
          <p:cNvSpPr txBox="1"/>
          <p:nvPr/>
        </p:nvSpPr>
        <p:spPr>
          <a:xfrm>
            <a:off x="6217920" y="21031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28 d</a:t>
            </a:r>
            <a:endParaRPr lang="en-US" sz="6400" dirty="0"/>
          </a:p>
        </p:txBody>
      </p:sp>
      <p:sp>
        <p:nvSpPr>
          <p:cNvPr id="8" name="stat l 2"/>
          <p:cNvSpPr txBox="1"/>
          <p:nvPr/>
        </p:nvSpPr>
        <p:spPr>
          <a:xfrm>
            <a:off x="62179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of memory per road, by weekday and hour</a:t>
            </a:r>
            <a:endParaRPr lang="en-US" sz="1400" dirty="0"/>
          </a:p>
        </p:txBody>
      </p:sp>
      <p:sp>
        <p:nvSpPr>
          <p:cNvPr id="9" name="stat 3"/>
          <p:cNvSpPr txBox="1"/>
          <p:nvPr/>
        </p:nvSpPr>
        <p:spPr>
          <a:xfrm>
            <a:off x="9006840" y="21031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0</a:t>
            </a:r>
            <a:endParaRPr lang="en-US" sz="6400" dirty="0"/>
          </a:p>
        </p:txBody>
      </p:sp>
      <p:sp>
        <p:nvSpPr>
          <p:cNvPr id="10" name="stat l 3"/>
          <p:cNvSpPr txBox="1"/>
          <p:nvPr/>
        </p:nvSpPr>
        <p:spPr>
          <a:xfrm>
            <a:off x="900684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simulated cars, people or incidents on the real map</a:t>
            </a:r>
            <a:endParaRPr lang="en-US" sz="1400" dirty="0"/>
          </a:p>
        </p:txBody>
      </p:sp>
      <p:sp>
        <p:nvSpPr>
          <p:cNvPr id="11" name="rules"/>
          <p:cNvSpPr txBox="1"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Honesty rules the product keeps: nothing simulated for a real region; every number says how it knows; “no data” is never replaced by a guess; camera counts stay on the device.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/>
          <p:cNvSpPr txBox="1"/>
          <p:nvPr/>
        </p:nvSpPr>
        <p:spPr>
          <a:xfrm>
            <a:off x="640080" y="8229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ASK THE CITY.</a:t>
            </a:r>
            <a:endParaRPr lang="en-US" sz="7200" dirty="0"/>
          </a:p>
        </p:txBody>
      </p:sp>
      <p:sp>
        <p:nvSpPr>
          <p:cNvPr id="3" name="url"/>
          <p:cNvSpPr txBox="1"/>
          <p:nvPr/>
        </p:nvSpPr>
        <p:spPr>
          <a:xfrm>
            <a:off x="640080" y="2194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infrashield-bengaluru.onrender.com</a:t>
            </a:r>
            <a:endParaRPr lang="en-US" sz="2000" dirty="0"/>
          </a:p>
        </p:txBody>
      </p:sp>
      <p:pic>
        <p:nvPicPr>
          <p:cNvPr id="4" name="logo" descr="/tmp/claude-0/-home-user-infrashield-bengaluru/a8cb06fe-0dee-5151-816d-47fd2cee5e5d/scratchpad/logo/city-atlas-horizontal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556" y="5120640"/>
            <a:ext cx="329184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ty Atlas">
  <a:themeElements>
    <a:clrScheme name="City Atlas">
      <a:dk1>
        <a:srgbClr val="071924"/>
      </a:dk1>
      <a:lt1>
        <a:srgbClr val="FFFFFF"/>
      </a:lt1>
      <a:dk2>
        <a:srgbClr val="0B1F2C"/>
      </a:dk2>
      <a:lt2>
        <a:srgbClr val="EEF5F8"/>
      </a:lt2>
      <a:accent1>
        <a:srgbClr val="0F6FFF"/>
      </a:accent1>
      <a:accent2>
        <a:srgbClr val="00C2A8"/>
      </a:accent2>
      <a:accent3>
        <a:srgbClr val="7ED957"/>
      </a:accent3>
      <a:accent4>
        <a:srgbClr val="5B6B75"/>
      </a:accent4>
      <a:accent5>
        <a:srgbClr val="B7A6FF"/>
      </a:accent5>
      <a:accent6>
        <a:srgbClr val="FF5A5F"/>
      </a:accent6>
      <a:hlink>
        <a:srgbClr val="0F6FFF"/>
      </a:hlink>
      <a:folHlink>
        <a:srgbClr val="00C2A8"/>
      </a:folHlink>
    </a:clrScheme>
    <a:fontScheme name="City Atl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Atlas</dc:title>
  <dc:subject>A living intelligence model of the city</dc:subject>
  <dc:creator>City Atlas</dc:creator>
  <cp:lastModifiedBy>City Atlas</cp:lastModifiedBy>
  <cp:revision>1</cp:revision>
  <dcterms:created xsi:type="dcterms:W3CDTF">2026-10-02T09:39:44Z</dcterms:created>
  <dcterms:modified xsi:type="dcterms:W3CDTF">2026-10-02T09:39:44Z</dcterms:modified>
</cp:coreProperties>
</file>